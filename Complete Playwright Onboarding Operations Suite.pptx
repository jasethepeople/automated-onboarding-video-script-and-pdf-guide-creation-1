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500063"/>
            <a:ext cx="45005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DEPLOYMENT BRIEF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57213" y="617934"/>
            <a:ext cx="4500563" cy="160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7600"/>
              </a:lnSpc>
              <a:buNone/>
            </a:pPr>
            <a:r>
              <a:rPr lang="en-US" sz="2950" b="1" spc="-2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PLAYWRIGHT ONBOARDING OPERATIONS SUITE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57213" y="2935021"/>
            <a:ext cx="4429125" cy="713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system for UI verification, session assurance, CI observability, and operational automation.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213" y="4357632"/>
            <a:ext cx="1451018" cy="3714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4357632"/>
            <a:ext cx="1451018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136818" y="4443357"/>
            <a:ext cx="2920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PLAYWRIGHT · LOCAL ANALYTICS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786438" y="400050"/>
            <a:ext cx="2957513" cy="1785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833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116" y="667941"/>
            <a:ext cx="1250156" cy="1250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86438" y="4604147"/>
            <a:ext cx="29575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AS AN OPERATED PRODUCT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71475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42925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SUITE, ONE OPERATIONAL CONTROL PLANE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42975"/>
            <a:ext cx="5429250" cy="6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treats onboarding verification as an operated product: it validates the journey, manages runtime trust, produces evidence, and maintains itself.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5775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JOURNEY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2938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2938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script, step sequence, screenshots, annotations, and PDF-ready guidance.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50319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50319" y="1927250"/>
            <a:ext cx="1978819" cy="5000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2707481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VERIFY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07481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CHECKS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07481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narrative testing plus independently shardable onboarding verification.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14863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14863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8" name="Text 15"/>
          <p:cNvSpPr/>
          <p:nvPr/>
        </p:nvSpPr>
        <p:spPr>
          <a:xfrm>
            <a:off x="4772025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OPERATE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72025" y="2615394"/>
            <a:ext cx="166449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SAFEGUARDS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72025" y="3201739"/>
            <a:ext cx="1664494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health, bounded retry, recovery support, preflight, and cleanup controls.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79406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9406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3" name="Text 20"/>
          <p:cNvSpPr/>
          <p:nvPr/>
        </p:nvSpPr>
        <p:spPr>
          <a:xfrm>
            <a:off x="6836569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LEARN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36569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TRENDS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36569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Per-shard evidence, merged reports, dashboard history, and regression signals.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5775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550319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614863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679406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485775" y="4463281"/>
            <a:ext cx="8172450" cy="6143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775" y="4463281"/>
            <a:ext cx="2143125" cy="6143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9"/>
          <p:cNvSpPr/>
          <p:nvPr/>
        </p:nvSpPr>
        <p:spPr>
          <a:xfrm>
            <a:off x="485775" y="4463281"/>
            <a:ext cx="2143125" cy="614363"/>
          </a:xfrm>
          <a:prstGeom prst="rect">
            <a:avLst/>
          </a:prstGeom>
          <a:noFill/>
          <a:ln/>
        </p:spPr>
        <p:txBody>
          <a:bodyPr wrap="square" lIns="187071" tIns="212598" rIns="170053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2628900" y="4463281"/>
            <a:ext cx="6029325" cy="614363"/>
          </a:xfrm>
          <a:prstGeom prst="rect">
            <a:avLst/>
          </a:prstGeom>
          <a:noFill/>
          <a:ln/>
        </p:spPr>
        <p:txBody>
          <a:bodyPr wrap="square" lIns="221107" tIns="170053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becomes an operating system for onboarding quality—not an isolated test file.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EXECUTION, CONTROL, AND INSIGHT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8172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separates UI work from operational trust and performance interpretation—then closes the loop with measurable feedback.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14475"/>
            <a:ext cx="5243233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14475"/>
            <a:ext cx="5243233" cy="35719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Shape 5"/>
          <p:cNvSpPr/>
          <p:nvPr/>
        </p:nvSpPr>
        <p:spPr>
          <a:xfrm>
            <a:off x="485775" y="1514475"/>
            <a:ext cx="1571625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9" name="Text 6"/>
          <p:cNvSpPr/>
          <p:nvPr/>
        </p:nvSpPr>
        <p:spPr>
          <a:xfrm>
            <a:off x="485775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57400" y="1514475"/>
            <a:ext cx="2900083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1" name="Shape 8"/>
          <p:cNvSpPr/>
          <p:nvPr/>
        </p:nvSpPr>
        <p:spPr>
          <a:xfrm>
            <a:off x="2057400" y="1514475"/>
            <a:ext cx="1021891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200275" y="1671638"/>
            <a:ext cx="764716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GENERATOR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00275" y="1998241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00275" y="2191122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200275" y="2384003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PDF user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00275" y="2576885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086435" y="1514475"/>
            <a:ext cx="84430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229310" y="1671638"/>
            <a:ext cx="58712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JOURNEY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29310" y="1998241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29310" y="2191122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29310" y="2384003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937881" y="1514475"/>
            <a:ext cx="1019603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4080756" y="1671638"/>
            <a:ext cx="762428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SHARDABLE CHECKS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080756" y="1998241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080756" y="2191122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test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80756" y="2384003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957483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5"/>
          <p:cNvSpPr/>
          <p:nvPr/>
        </p:nvSpPr>
        <p:spPr>
          <a:xfrm>
            <a:off x="4957483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29021" y="1514475"/>
            <a:ext cx="5073904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5829021" y="1514475"/>
            <a:ext cx="5073904" cy="35719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Shape 28"/>
          <p:cNvSpPr/>
          <p:nvPr/>
        </p:nvSpPr>
        <p:spPr>
          <a:xfrm>
            <a:off x="5829021" y="1514475"/>
            <a:ext cx="1571625" cy="1190997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9"/>
          <p:cNvSpPr/>
          <p:nvPr/>
        </p:nvSpPr>
        <p:spPr>
          <a:xfrm>
            <a:off x="5829021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0646" y="1514475"/>
            <a:ext cx="2730754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4" name="Shape 31"/>
          <p:cNvSpPr/>
          <p:nvPr/>
        </p:nvSpPr>
        <p:spPr>
          <a:xfrm>
            <a:off x="7400646" y="1514475"/>
            <a:ext cx="87667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543521" y="1671638"/>
            <a:ext cx="61949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543521" y="1998241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543521" y="2191122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43521" y="2384003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284462" y="1514475"/>
            <a:ext cx="894420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8427337" y="1671638"/>
            <a:ext cx="637245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427337" y="1998241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expiry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427337" y="2191122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427337" y="2384003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427337" y="2576885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186025" y="1514475"/>
            <a:ext cx="945375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9328900" y="1671638"/>
            <a:ext cx="688200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 &amp; PRUNING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9328900" y="1998241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328900" y="2191122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and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9328900" y="2384003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9328900" y="2576885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131400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2" name="Text 49"/>
          <p:cNvSpPr/>
          <p:nvPr/>
        </p:nvSpPr>
        <p:spPr>
          <a:xfrm>
            <a:off x="10131400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11002938" y="1514475"/>
            <a:ext cx="5114869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1"/>
          <p:cNvSpPr/>
          <p:nvPr/>
        </p:nvSpPr>
        <p:spPr>
          <a:xfrm>
            <a:off x="11002938" y="1514475"/>
            <a:ext cx="5114869" cy="35719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5" name="Shape 52"/>
          <p:cNvSpPr/>
          <p:nvPr/>
        </p:nvSpPr>
        <p:spPr>
          <a:xfrm>
            <a:off x="11002938" y="1514475"/>
            <a:ext cx="1571625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6" name="Text 53"/>
          <p:cNvSpPr/>
          <p:nvPr/>
        </p:nvSpPr>
        <p:spPr>
          <a:xfrm>
            <a:off x="11002938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12574563" y="1514475"/>
            <a:ext cx="2771719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8" name="Shape 55"/>
          <p:cNvSpPr/>
          <p:nvPr/>
        </p:nvSpPr>
        <p:spPr>
          <a:xfrm>
            <a:off x="12574563" y="1514475"/>
            <a:ext cx="80367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/>
          <p:nvPr/>
        </p:nvSpPr>
        <p:spPr>
          <a:xfrm>
            <a:off x="12717438" y="1671638"/>
            <a:ext cx="54649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EXPORT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2717438" y="1998241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per-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2717438" y="2191122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2717438" y="2384003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and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12717438" y="2576885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facts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13385378" y="1514475"/>
            <a:ext cx="907200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/>
          <p:nvPr/>
        </p:nvSpPr>
        <p:spPr>
          <a:xfrm>
            <a:off x="13528253" y="1671638"/>
            <a:ext cx="650025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ANALYZER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13528253" y="1998241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Baseline,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3528253" y="2191122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thresholds,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3528253" y="2384003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3528253" y="2576885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4299723" y="1514475"/>
            <a:ext cx="1046559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/>
          <p:nvPr/>
        </p:nvSpPr>
        <p:spPr>
          <a:xfrm>
            <a:off x="14442598" y="1671638"/>
            <a:ext cx="789384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DASHBOARD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14442598" y="1998241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4442598" y="2191122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balance, and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14442598" y="2384003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performance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15346282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6" name="Text 73"/>
          <p:cNvSpPr/>
          <p:nvPr/>
        </p:nvSpPr>
        <p:spPr>
          <a:xfrm>
            <a:off x="15346282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000" dirty="0"/>
          </a:p>
        </p:txBody>
      </p:sp>
      <p:sp>
        <p:nvSpPr>
          <p:cNvPr id="77" name="Text 74"/>
          <p:cNvSpPr/>
          <p:nvPr/>
        </p:nvSpPr>
        <p:spPr>
          <a:xfrm>
            <a:off x="485775" y="2946574"/>
            <a:ext cx="37826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EVIDENCE FLOWS FORWARD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4268391" y="2887638"/>
            <a:ext cx="6072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5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4875609" y="2946574"/>
            <a:ext cx="37826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LEARNING FLOWS BACK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485775" y="3348410"/>
            <a:ext cx="8172450" cy="7286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1" name="Text 78"/>
          <p:cNvSpPr/>
          <p:nvPr/>
        </p:nvSpPr>
        <p:spPr>
          <a:xfrm>
            <a:off x="485775" y="3348410"/>
            <a:ext cx="2071688" cy="728663"/>
          </a:xfrm>
          <a:prstGeom prst="rect">
            <a:avLst/>
          </a:prstGeom>
          <a:noFill/>
          <a:ln/>
        </p:spPr>
        <p:txBody>
          <a:bodyPr wrap="square" lIns="204089" tIns="255143" rIns="127508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PRINCIPLE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2557463" y="3348410"/>
            <a:ext cx="6100763" cy="728663"/>
          </a:xfrm>
          <a:prstGeom prst="rect">
            <a:avLst/>
          </a:prstGeom>
          <a:noFill/>
          <a:ln/>
        </p:spPr>
        <p:txBody>
          <a:bodyPr wrap="square" lIns="221107" tIns="204089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application behavior, operational controls, and performance signals independently testable—but intentionally connected.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28613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EXECUTION DESIGN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00063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TESTS WITHOUT SHARED-STATE COLLISIONS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85825"/>
            <a:ext cx="7072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keeps one complete onboarding narrative for confidence while distributing independent checks across two runners for faster feedback.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14463"/>
            <a:ext cx="2690292" cy="218598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600200"/>
            <a:ext cx="23473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PATH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57225" y="1800225"/>
            <a:ext cx="2347392" cy="203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JOURNEY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7225" y="2089938"/>
            <a:ext cx="2347392" cy="466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ordered six-step onboarding flow validates the experience exactly as a new user encounters it.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7225" y="2741972"/>
            <a:ext cx="763377" cy="38576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8"/>
          <p:cNvSpPr/>
          <p:nvPr/>
        </p:nvSpPr>
        <p:spPr>
          <a:xfrm>
            <a:off x="657225" y="2741972"/>
            <a:ext cx="763377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449177" y="2741972"/>
            <a:ext cx="763432" cy="3857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1449177" y="2741972"/>
            <a:ext cx="763432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241184" y="2741972"/>
            <a:ext cx="763432" cy="38576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5" name="Text 12"/>
          <p:cNvSpPr/>
          <p:nvPr/>
        </p:nvSpPr>
        <p:spPr>
          <a:xfrm>
            <a:off x="2241184" y="2741972"/>
            <a:ext cx="763432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176067" y="1414463"/>
            <a:ext cx="414338" cy="218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590404" y="1414463"/>
            <a:ext cx="5067821" cy="2185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590404" y="1414463"/>
            <a:ext cx="5067821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6"/>
          <p:cNvSpPr/>
          <p:nvPr/>
        </p:nvSpPr>
        <p:spPr>
          <a:xfrm>
            <a:off x="3747567" y="1535906"/>
            <a:ext cx="31247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72288" y="1510903"/>
            <a:ext cx="1643063" cy="22145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8"/>
          <p:cNvSpPr/>
          <p:nvPr/>
        </p:nvSpPr>
        <p:spPr>
          <a:xfrm>
            <a:off x="6872288" y="1510903"/>
            <a:ext cx="1643063" cy="221456"/>
          </a:xfrm>
          <a:prstGeom prst="rect">
            <a:avLst/>
          </a:prstGeom>
          <a:noFill/>
          <a:ln/>
        </p:spPr>
        <p:txBody>
          <a:bodyPr wrap="square" lIns="102108" tIns="76581" rIns="102108" bIns="76581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TWO-RUNNER MATRIX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590404" y="1828800"/>
            <a:ext cx="5067821" cy="177165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3" name="Shape 20"/>
          <p:cNvSpPr/>
          <p:nvPr/>
        </p:nvSpPr>
        <p:spPr>
          <a:xfrm>
            <a:off x="3590404" y="1828800"/>
            <a:ext cx="2508907" cy="177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3733279" y="1985963"/>
            <a:ext cx="22231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1 / 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733279" y="2164556"/>
            <a:ext cx="2223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CHECKS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73327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Text 24"/>
          <p:cNvSpPr/>
          <p:nvPr/>
        </p:nvSpPr>
        <p:spPr>
          <a:xfrm>
            <a:off x="373327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48621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6"/>
          <p:cNvSpPr/>
          <p:nvPr/>
        </p:nvSpPr>
        <p:spPr>
          <a:xfrm>
            <a:off x="448621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23915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1" name="Text 28"/>
          <p:cNvSpPr/>
          <p:nvPr/>
        </p:nvSpPr>
        <p:spPr>
          <a:xfrm>
            <a:off x="523915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6149318" y="1828800"/>
            <a:ext cx="2508907" cy="177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292193" y="1985963"/>
            <a:ext cx="22231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2 / 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92193" y="2164556"/>
            <a:ext cx="2223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CHECKS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9219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6" name="Text 33"/>
          <p:cNvSpPr/>
          <p:nvPr/>
        </p:nvSpPr>
        <p:spPr>
          <a:xfrm>
            <a:off x="629219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704513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8" name="Text 35"/>
          <p:cNvSpPr/>
          <p:nvPr/>
        </p:nvSpPr>
        <p:spPr>
          <a:xfrm>
            <a:off x="704513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779807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0" name="Text 37"/>
          <p:cNvSpPr/>
          <p:nvPr/>
        </p:nvSpPr>
        <p:spPr>
          <a:xfrm>
            <a:off x="779807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85775" y="3743325"/>
            <a:ext cx="8172450" cy="104298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2" name="Shape 39"/>
          <p:cNvSpPr/>
          <p:nvPr/>
        </p:nvSpPr>
        <p:spPr>
          <a:xfrm>
            <a:off x="485775" y="3743325"/>
            <a:ext cx="1714500" cy="10429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3" name="Text 40"/>
          <p:cNvSpPr/>
          <p:nvPr/>
        </p:nvSpPr>
        <p:spPr>
          <a:xfrm>
            <a:off x="485775" y="3743325"/>
            <a:ext cx="1714500" cy="1042988"/>
          </a:xfrm>
          <a:prstGeom prst="rect">
            <a:avLst/>
          </a:prstGeom>
          <a:noFill/>
          <a:ln/>
        </p:spPr>
        <p:txBody>
          <a:bodyPr wrap="square" lIns="187071" tIns="297688" rIns="153035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GUARDRAILS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07419" y="3743325"/>
            <a:ext cx="2145469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2350294" y="3914775"/>
            <a:ext cx="187400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PREREQUISITE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350294" y="4111898"/>
            <a:ext cx="1874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shard first confirms authenticated access before creating test data.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60032" y="3743325"/>
            <a:ext cx="2145525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4502907" y="3914775"/>
            <a:ext cx="18740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NAMING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502907" y="4111898"/>
            <a:ext cx="18740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project identifiers prevent collisions across runs and runners.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512700" y="3743325"/>
            <a:ext cx="2145525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6655575" y="3914775"/>
            <a:ext cx="18740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DATA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655575" y="4111898"/>
            <a:ext cx="1874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shard relies on another shard’s project, task, or test-side effect.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85775" y="4929188"/>
            <a:ext cx="8172450" cy="151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9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 speed without compromising the end-to-end story or contaminating shared test state.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BOUNDARY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AUTHENTICATION THAT FAILS CLOSED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67151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state reduces test friction—but trust remains bounded by a dedicated account, protected environments, explicit expiry detection, and approved human re-authentication.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STORE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8650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STATE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650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test-account cookies and storage state live only in a protected environment secret.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8650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50319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550319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2693194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VERIFY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693194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GATE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93194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 run first verifies authenticated workspace access before it can create test data.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693194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14863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4863" y="1485900"/>
            <a:ext cx="1978819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0" name="Text 17"/>
          <p:cNvSpPr/>
          <p:nvPr/>
        </p:nvSpPr>
        <p:spPr>
          <a:xfrm>
            <a:off x="4757738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CLASSIFY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757738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57738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failures retry with backoff; confirmed login or SSO redirects stop immediately.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7738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679406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679406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6" name="Text 23"/>
          <p:cNvSpPr/>
          <p:nvPr/>
        </p:nvSpPr>
        <p:spPr>
          <a:xfrm>
            <a:off x="6822281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RENEW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822281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RECOVERY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822281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authorized owner completes normal SSO/MFA, validates fresh state, then replaces the secret.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22281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5775" y="3157538"/>
            <a:ext cx="4673687" cy="120015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Text 28"/>
          <p:cNvSpPr/>
          <p:nvPr/>
        </p:nvSpPr>
        <p:spPr>
          <a:xfrm>
            <a:off x="657225" y="3321844"/>
            <a:ext cx="43022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RECOVERY MODEL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7225" y="3556136"/>
            <a:ext cx="430221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through ordinary identity-provider controls; validate the resulting state headlessly; encrypt and hand it back through the approved secret-management path.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273762" y="3157538"/>
            <a:ext cx="3384407" cy="1200150"/>
          </a:xfrm>
          <a:prstGeom prst="rect">
            <a:avLst/>
          </a:prstGeom>
          <a:solidFill>
            <a:srgbClr val="FFFFFF"/>
          </a:solidFill>
          <a:ln w="18288">
            <a:solidFill>
              <a:srgbClr val="E11D4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5212" y="3314700"/>
            <a:ext cx="304150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NOT AUTOMATED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73799" y="3527561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username/password sign-in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573799" y="3682938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MFA, OTP, or push-factor handling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573799" y="3838315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values in logs, artifacts, or reports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85775" y="4493419"/>
            <a:ext cx="8172450" cy="3571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9" name="Text 36"/>
          <p:cNvSpPr/>
          <p:nvPr/>
        </p:nvSpPr>
        <p:spPr>
          <a:xfrm>
            <a:off x="485775" y="4616983"/>
            <a:ext cx="1885950" cy="110003"/>
          </a:xfrm>
          <a:prstGeom prst="rect">
            <a:avLst/>
          </a:prstGeom>
          <a:noFill/>
          <a:ln/>
        </p:spPr>
        <p:txBody>
          <a:bodyPr wrap="none" lIns="170053" tIns="0" rIns="119126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2371725" y="4599124"/>
            <a:ext cx="6286500" cy="145721"/>
          </a:xfrm>
          <a:prstGeom prst="rect">
            <a:avLst/>
          </a:prstGeom>
          <a:noFill/>
          <a:ln/>
        </p:spPr>
        <p:txBody>
          <a:bodyPr wrap="none" lIns="0" tIns="0" rIns="187071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authentication is an actionable operational event—not a prompt to bypass identity controls.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PRODUCES EVIDENCE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7256"/>
            <a:ext cx="635793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 system captures timing and outcome facts at the shard level, merges them without secrets, and turns real history into local operational visibility.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15814"/>
            <a:ext cx="2357438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15814"/>
            <a:ext cx="2357438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644402"/>
            <a:ext cx="20716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01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28650" y="1801564"/>
            <a:ext cx="2071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ARTIFACT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8650" y="2044452"/>
            <a:ext cx="2071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JSON result, controlled timestamps, outcome, retry count, and failure diagnostics.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5775" y="2601664"/>
            <a:ext cx="2357438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85775" y="2601664"/>
            <a:ext cx="2357438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730252"/>
            <a:ext cx="20716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02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28650" y="2887414"/>
            <a:ext cx="2071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ARTIFACT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8650" y="3130302"/>
            <a:ext cx="2071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safe schema, independently collected so runner balance can be measured—not assumed.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843213" y="2430214"/>
            <a:ext cx="414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57550" y="1737271"/>
            <a:ext cx="1785938" cy="16430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8" name="Text 15"/>
          <p:cNvSpPr/>
          <p:nvPr/>
        </p:nvSpPr>
        <p:spPr>
          <a:xfrm>
            <a:off x="3414713" y="1915864"/>
            <a:ext cx="147161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NO-SECRET MERGE JOB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414713" y="2077603"/>
            <a:ext cx="1471613" cy="37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METRICS EXPORT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14713" y="2532459"/>
            <a:ext cx="1471613" cy="621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actual shard outputs into one dashboard-ready run record and unified report.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414713" y="3230203"/>
            <a:ext cx="1158069" cy="150019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19"/>
          <p:cNvSpPr/>
          <p:nvPr/>
        </p:nvSpPr>
        <p:spPr>
          <a:xfrm>
            <a:off x="3414713" y="3230203"/>
            <a:ext cx="1158069" cy="150019"/>
          </a:xfrm>
          <a:prstGeom prst="rect">
            <a:avLst/>
          </a:prstGeom>
          <a:noFill/>
          <a:ln/>
        </p:spPr>
        <p:txBody>
          <a:bodyPr wrap="square" lIns="93599" tIns="76581" rIns="93599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RETAINED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043488" y="2430214"/>
            <a:ext cx="414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57825" y="1515814"/>
            <a:ext cx="3200400" cy="2085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57825" y="1515814"/>
            <a:ext cx="320040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3"/>
          <p:cNvSpPr/>
          <p:nvPr/>
        </p:nvSpPr>
        <p:spPr>
          <a:xfrm>
            <a:off x="5643563" y="1672977"/>
            <a:ext cx="282892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VIEW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643563" y="2302073"/>
            <a:ext cx="2828925" cy="2133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4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DASHBOARD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5643563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6"/>
          <p:cNvSpPr/>
          <p:nvPr/>
        </p:nvSpPr>
        <p:spPr>
          <a:xfrm>
            <a:off x="5729288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729288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TREND</a:t>
            </a:r>
            <a:endParaRPr lang="en-US" sz="500" dirty="0"/>
          </a:p>
        </p:txBody>
      </p:sp>
      <p:sp>
        <p:nvSpPr>
          <p:cNvPr id="31" name="Shape 28"/>
          <p:cNvSpPr/>
          <p:nvPr/>
        </p:nvSpPr>
        <p:spPr>
          <a:xfrm>
            <a:off x="6605569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2" name="Text 29"/>
          <p:cNvSpPr/>
          <p:nvPr/>
        </p:nvSpPr>
        <p:spPr>
          <a:xfrm>
            <a:off x="6691294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691294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BALANCE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7567575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5" name="Text 32"/>
          <p:cNvSpPr/>
          <p:nvPr/>
        </p:nvSpPr>
        <p:spPr>
          <a:xfrm>
            <a:off x="7653300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653300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SIGNAL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485775" y="3801814"/>
            <a:ext cx="8172450" cy="688591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8" name="Shape 35"/>
          <p:cNvSpPr/>
          <p:nvPr/>
        </p:nvSpPr>
        <p:spPr>
          <a:xfrm>
            <a:off x="485775" y="3801814"/>
            <a:ext cx="2107406" cy="688591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9" name="Text 36"/>
          <p:cNvSpPr/>
          <p:nvPr/>
        </p:nvSpPr>
        <p:spPr>
          <a:xfrm>
            <a:off x="485775" y="3801814"/>
            <a:ext cx="2107406" cy="688591"/>
          </a:xfrm>
          <a:prstGeom prst="rect">
            <a:avLst/>
          </a:prstGeom>
          <a:noFill/>
          <a:ln/>
        </p:spPr>
        <p:txBody>
          <a:bodyPr wrap="square" lIns="187071" tIns="212598" rIns="136017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BOUNDARY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593181" y="3801814"/>
            <a:ext cx="6065044" cy="688591"/>
          </a:xfrm>
          <a:prstGeom prst="rect">
            <a:avLst/>
          </a:prstGeom>
          <a:noFill/>
          <a:ln/>
        </p:spPr>
        <p:txBody>
          <a:bodyPr wrap="square" lIns="221107" tIns="187071" rIns="221107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artifacts contain aggregate test facts only. Browser storage state, secrets, cookies, screenshots, traces, and raw logs are excluded from the dashboard data contract.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INTELLIGENCE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CONVERTS SIGNALS INTO DECISIONS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81724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waits for sufficient evidence, compares like-for-like runs, and turns only material drift into an operational action.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343025"/>
            <a:ext cx="1382985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343025"/>
            <a:ext cx="1382985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07219" y="1478756"/>
            <a:ext cx="114009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07219" y="1635919"/>
            <a:ext cx="114009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7219" y="1983116"/>
            <a:ext cx="114009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RUNS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19" y="2360340"/>
            <a:ext cx="1140098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Bounded, safe history is stored on the protected metrics-history branch.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68760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183085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2183085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5" name="Text 12"/>
          <p:cNvSpPr/>
          <p:nvPr/>
        </p:nvSpPr>
        <p:spPr>
          <a:xfrm>
            <a:off x="2304529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304529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04529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PASS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304529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successful runs are required before any regression decision is made.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66127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880452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880452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2" name="Text 19"/>
          <p:cNvSpPr/>
          <p:nvPr/>
        </p:nvSpPr>
        <p:spPr>
          <a:xfrm>
            <a:off x="4001895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001895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001895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PRIOR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001895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metrics are assessed against the median of prior successful runs.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63493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577818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18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9" name="Text 26"/>
          <p:cNvSpPr/>
          <p:nvPr/>
        </p:nvSpPr>
        <p:spPr>
          <a:xfrm>
            <a:off x="5699261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699261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99261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699261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GitHub summary charts surface duration and shard-balance direction.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960859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275184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7275184" y="1343025"/>
            <a:ext cx="1383041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6" name="Text 33"/>
          <p:cNvSpPr/>
          <p:nvPr/>
        </p:nvSpPr>
        <p:spPr>
          <a:xfrm>
            <a:off x="7396628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396628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396628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ISSUE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396628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deduplicated regression issue focuses response on the newest evidence.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85775" y="3100388"/>
            <a:ext cx="3834408" cy="11715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1" name="Text 38"/>
          <p:cNvSpPr/>
          <p:nvPr/>
        </p:nvSpPr>
        <p:spPr>
          <a:xfrm>
            <a:off x="642938" y="3257550"/>
            <a:ext cx="35200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SIGNALS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42938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728663" y="3596878"/>
            <a:ext cx="5203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28663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runtime change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1837730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1923455" y="3596878"/>
            <a:ext cx="488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923455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imbalance change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3032522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3118247" y="3596878"/>
            <a:ext cx="4334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118247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growth change</a:t>
            </a:r>
            <a:endParaRPr lang="en-US" sz="600" dirty="0"/>
          </a:p>
        </p:txBody>
      </p:sp>
      <p:sp>
        <p:nvSpPr>
          <p:cNvPr id="51" name="Shape 48"/>
          <p:cNvSpPr/>
          <p:nvPr/>
        </p:nvSpPr>
        <p:spPr>
          <a:xfrm>
            <a:off x="4420195" y="3100388"/>
            <a:ext cx="4238030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4420195" y="3100388"/>
            <a:ext cx="423803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3" name="Text 50"/>
          <p:cNvSpPr/>
          <p:nvPr/>
        </p:nvSpPr>
        <p:spPr>
          <a:xfrm>
            <a:off x="4577358" y="3257550"/>
            <a:ext cx="392370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77358" y="3490392"/>
            <a:ext cx="3923705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variables control the thresholds. </a:t>
            </a: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baseline, no alert.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 drift produces visible summary context and one 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issue instead of repeated noise.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14325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485775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LEAN, AUDITABLE OPERATIONS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71538"/>
            <a:ext cx="5857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scheduled workflow has a narrow responsibility, a safe failure mode, and an auditable output.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64469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464469"/>
            <a:ext cx="302895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593056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· 16:17 UTC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8650" y="1750219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8650" y="1955936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retry; confirmed expiry opens or updates a renewal issue.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5775" y="2521744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85775" y="2521744"/>
            <a:ext cx="3028950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650331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· 07:17 UTC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8650" y="2807494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PREFLIGHT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8650" y="3013211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Non-destructive configuration and policy readiness check.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71888" y="1457325"/>
            <a:ext cx="1800225" cy="2014538"/>
          </a:xfrm>
          <a:prstGeom prst="rect">
            <a:avLst/>
          </a:prstGeom>
          <a:solidFill>
            <a:srgbClr val="083344"/>
          </a:solidFill>
          <a:ln w="45720">
            <a:solidFill>
              <a:srgbClr val="E11D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363" y="1728453"/>
            <a:ext cx="1057275" cy="10572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42581" y="2914315"/>
            <a:ext cx="105878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900934" y="3089337"/>
            <a:ext cx="134213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workflow control plane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5629275" y="1464469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629275" y="1464469"/>
            <a:ext cx="3028950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2" name="Text 18"/>
          <p:cNvSpPr/>
          <p:nvPr/>
        </p:nvSpPr>
        <p:spPr>
          <a:xfrm>
            <a:off x="5772150" y="1593056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· 03:37 UTC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5772150" y="1750219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PRUNING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772150" y="1955936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retention cleanup after an auditable dry-run manifest.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629275" y="2521744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5629275" y="2521744"/>
            <a:ext cx="302895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3"/>
          <p:cNvSpPr/>
          <p:nvPr/>
        </p:nvSpPr>
        <p:spPr>
          <a:xfrm>
            <a:off x="5772150" y="2650331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MAIN + MANUAL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5772150" y="2807494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E2E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772150" y="3013211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Shards, metrics, reports, history, and performance regression checks.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85775" y="3686175"/>
            <a:ext cx="8172450" cy="7572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Shape 27"/>
          <p:cNvSpPr/>
          <p:nvPr/>
        </p:nvSpPr>
        <p:spPr>
          <a:xfrm>
            <a:off x="485775" y="3686175"/>
            <a:ext cx="2143125" cy="75723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8"/>
          <p:cNvSpPr/>
          <p:nvPr/>
        </p:nvSpPr>
        <p:spPr>
          <a:xfrm>
            <a:off x="485775" y="3686175"/>
            <a:ext cx="2143125" cy="757238"/>
          </a:xfrm>
          <a:prstGeom prst="rect">
            <a:avLst/>
          </a:prstGeom>
          <a:noFill/>
          <a:ln/>
        </p:spPr>
        <p:txBody>
          <a:bodyPr wrap="square" lIns="204089" tIns="238125" rIns="170053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628900" y="3686175"/>
            <a:ext cx="6029325" cy="757238"/>
          </a:xfrm>
          <a:prstGeom prst="rect">
            <a:avLst/>
          </a:prstGeom>
          <a:noFill/>
          <a:ln/>
        </p:spPr>
        <p:txBody>
          <a:bodyPr wrap="square" lIns="238125" tIns="195580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Slack and email notices carry aggregate outcome data only. A notification outage never hides the workflow’s primary result.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35756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NEW-REPOSITORY ROLLOUT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072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 FIVE CONTROLLED STAGES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92969"/>
            <a:ext cx="6643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each boundary before enabling unattended automation: source integrity, repository policy, approved state, configuration, and live verification.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07331"/>
            <a:ext cx="1577318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14363" y="1957388"/>
            <a:ext cx="1320143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LOCALLY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4363" y="2197373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package, install dependencies, and run the full offline master validation.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4363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`NPM RUN VERIFY:ALL`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134530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134530" y="1507331"/>
            <a:ext cx="1577318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2263118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263118" y="1957388"/>
            <a:ext cx="1320143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263118" y="2344489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source, protect `main`, and establish the required GitHub Actions policy.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63118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REVIEWED WORKFLOW SOURCE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3783285" y="1507331"/>
            <a:ext cx="1577373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783285" y="1507331"/>
            <a:ext cx="1577373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0" name="Text 17"/>
          <p:cNvSpPr/>
          <p:nvPr/>
        </p:nvSpPr>
        <p:spPr>
          <a:xfrm>
            <a:off x="3911873" y="1650206"/>
            <a:ext cx="13201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911873" y="1957388"/>
            <a:ext cx="1320198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TRUST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11873" y="2197373"/>
            <a:ext cx="1320198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two environments and manually capture dedicated test-account state after normal SSO/MFA.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911873" y="3276191"/>
            <a:ext cx="1320198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 STORAGE STATE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5432096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32096" y="1507331"/>
            <a:ext cx="1577318" cy="5000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3"/>
          <p:cNvSpPr/>
          <p:nvPr/>
        </p:nvSpPr>
        <p:spPr>
          <a:xfrm>
            <a:off x="5560684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560684" y="1957388"/>
            <a:ext cx="1320143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SUITE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60684" y="2197373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single control command as dry-run, review its plan, then repeat with `--apply`.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560684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PREFLIGHT-READY CONFIG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7080852" y="1507331"/>
            <a:ext cx="1577373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7080852" y="1507331"/>
            <a:ext cx="1577373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2" name="Text 29"/>
          <p:cNvSpPr/>
          <p:nvPr/>
        </p:nvSpPr>
        <p:spPr>
          <a:xfrm>
            <a:off x="7209439" y="1650206"/>
            <a:ext cx="13201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209439" y="1957388"/>
            <a:ext cx="1320198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SAFELY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09439" y="2197373"/>
            <a:ext cx="1320198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manual workflow sequence before relying on daily and weekly schedules.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209439" y="3276191"/>
            <a:ext cx="1320198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EVIDENCE FROM FIRST E2E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85775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2134530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3783285" y="3550444"/>
            <a:ext cx="15773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432096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080852" y="3550444"/>
            <a:ext cx="15773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485775" y="3929063"/>
            <a:ext cx="8172450" cy="111442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2" name="Shape 39"/>
          <p:cNvSpPr/>
          <p:nvPr/>
        </p:nvSpPr>
        <p:spPr>
          <a:xfrm>
            <a:off x="485775" y="3929063"/>
            <a:ext cx="2214563" cy="111442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3" name="Text 40"/>
          <p:cNvSpPr/>
          <p:nvPr/>
        </p:nvSpPr>
        <p:spPr>
          <a:xfrm>
            <a:off x="485775" y="3929063"/>
            <a:ext cx="2214563" cy="1114425"/>
          </a:xfrm>
          <a:prstGeom prst="rect">
            <a:avLst/>
          </a:prstGeom>
          <a:noFill/>
          <a:ln/>
        </p:spPr>
        <p:txBody>
          <a:bodyPr wrap="square" lIns="204089" tIns="289179" rIns="187071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ACTIVATION ORDER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886075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2978944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PREFLIGHT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2978944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check only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4296966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4389834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SESSION HEALTH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4389834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access proof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707856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5800725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E2E RUN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5800725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Shards, metrics, dashboard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5800725" y="4519092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7118747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7211616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PRUNING DRY-RUN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7211616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manifest before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7211616" y="4519092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886075" y="4729163"/>
            <a:ext cx="5586413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these checks pass should scheduled monitoring, retention cleanup, and trend-based issue automation become the operating baseline.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4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CONTROL CENTER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CONFIGURES; ONE COMMAND PROVES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71538"/>
            <a:ext cx="6572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keeps activation and verification intentionally simple: configure once with approved inputs, then use repeatable workflows and artifacts to operate continuously.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21606"/>
            <a:ext cx="4086225" cy="2571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485775" y="1421606"/>
            <a:ext cx="4086225" cy="2571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DEPLOYMENT CONFIGURATION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0" y="1421606"/>
            <a:ext cx="4086225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421606"/>
            <a:ext cx="4086225" cy="2571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ASSURANCE AND REVIEW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85775" y="1735931"/>
            <a:ext cx="8172450" cy="286168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" y="1735931"/>
            <a:ext cx="3674343" cy="3000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" y="1735931"/>
            <a:ext cx="3674343" cy="300038"/>
          </a:xfrm>
          <a:prstGeom prst="rect">
            <a:avLst/>
          </a:prstGeom>
          <a:noFill/>
          <a:ln/>
        </p:spPr>
        <p:txBody>
          <a:bodyPr wrap="square" lIns="153035" tIns="110617" rIns="153035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ACTION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167262" y="1735931"/>
            <a:ext cx="4490963" cy="3000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4167262" y="1735931"/>
            <a:ext cx="4490963" cy="300038"/>
          </a:xfrm>
          <a:prstGeom prst="rect">
            <a:avLst/>
          </a:prstGeom>
          <a:noFill/>
          <a:ln/>
        </p:spPr>
        <p:txBody>
          <a:bodyPr wrap="square" lIns="153035" tIns="110617" rIns="153035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OR CONTROL PATH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85775" y="2043113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2143125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COMPLETE SUITE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0075" y="2351243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protected environments, secrets, variables, policies, and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0075" y="2544124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notification wiring.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67262" y="2043113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1562" y="2143125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1" name="Text 18"/>
          <p:cNvSpPr/>
          <p:nvPr/>
        </p:nvSpPr>
        <p:spPr>
          <a:xfrm>
            <a:off x="4281562" y="2143125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bash scripts/configure-all-features.sh … --apply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281562" y="2457450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dry-run; requires approved browser state and repository administration.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85775" y="2679855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00075" y="2779868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ALL CODED COMPONENTS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00075" y="2987985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suite’s offline validation path without touching the SaaS 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0075" y="3180866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channels.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167262" y="2679855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281562" y="2779868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9" name="Text 26"/>
          <p:cNvSpPr/>
          <p:nvPr/>
        </p:nvSpPr>
        <p:spPr>
          <a:xfrm>
            <a:off x="4281562" y="2779868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run verify:all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281562" y="3094193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code, contracts, safety boundaries, metrics, trends, and workflow structure.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85775" y="3316598"/>
            <a:ext cx="3674343" cy="644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00075" y="3416610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DEPLOYMENT READINESS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00075" y="3624728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policy and integration completeness before a scheduled action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0075" y="3817609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 it.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167262" y="3316598"/>
            <a:ext cx="4490963" cy="644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281562" y="3416610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7" name="Text 34"/>
          <p:cNvSpPr/>
          <p:nvPr/>
        </p:nvSpPr>
        <p:spPr>
          <a:xfrm>
            <a:off x="4281562" y="3416610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 Actions → Operations preflight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281562" y="3730935"/>
            <a:ext cx="4262363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non-destructive check for environment variables, source wiring, and notification completeness.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85775" y="3968018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600075" y="4068031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PERFORMANCE HISTORY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0075" y="4276148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real merged metrics locally, without sending records to an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00075" y="4469030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analytics service.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167262" y="3968018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281562" y="4068031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5" name="Text 42"/>
          <p:cNvSpPr/>
          <p:nvPr/>
        </p:nvSpPr>
        <p:spPr>
          <a:xfrm>
            <a:off x="4281562" y="4068031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Dashboard → import merged metrics JSON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281562" y="4382356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duration, runner balance, retries, and trend context in the local HTML visualizer.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85775" y="4697630"/>
            <a:ext cx="8172450" cy="45720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8" name="Shape 45"/>
          <p:cNvSpPr/>
          <p:nvPr/>
        </p:nvSpPr>
        <p:spPr>
          <a:xfrm>
            <a:off x="485775" y="4697630"/>
            <a:ext cx="217170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9" name="Text 46"/>
          <p:cNvSpPr/>
          <p:nvPr/>
        </p:nvSpPr>
        <p:spPr>
          <a:xfrm>
            <a:off x="485775" y="4697630"/>
            <a:ext cx="2171700" cy="457200"/>
          </a:xfrm>
          <a:prstGeom prst="rect">
            <a:avLst/>
          </a:prstGeom>
          <a:noFill/>
          <a:ln/>
        </p:spPr>
        <p:txBody>
          <a:bodyPr wrap="square" lIns="178562" tIns="153035" rIns="136017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PRINCIPLE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2657475" y="4697630"/>
            <a:ext cx="6000750" cy="457200"/>
          </a:xfrm>
          <a:prstGeom prst="rect">
            <a:avLst/>
          </a:prstGeom>
          <a:noFill/>
          <a:ln/>
        </p:spPr>
        <p:txBody>
          <a:bodyPr wrap="square" lIns="212598" tIns="119126" rIns="204089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high-trust changes deliberate; make routine verification, observability, and maintenance repeatable.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1456265"/>
            <a:ext cx="49498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5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ONBOARDING ASSURANCE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57213" y="1677721"/>
            <a:ext cx="4949893" cy="119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2950" b="1" spc="-2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CONFIDENCE. GOVERNED AUTOMATION.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57213" y="3071031"/>
            <a:ext cx="4949893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system for reliable UI verification, secure session handling, measurable CI performance, and operationally safe automation.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213" y="3997933"/>
            <a:ext cx="2763124" cy="192881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3997933"/>
            <a:ext cx="2763124" cy="192881"/>
          </a:xfrm>
          <a:prstGeom prst="rect">
            <a:avLst/>
          </a:prstGeom>
          <a:noFill/>
          <a:ln/>
        </p:spPr>
        <p:txBody>
          <a:bodyPr wrap="square" lIns="136017" tIns="110617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DEPLOYMENT CHECKLIST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921443" y="3786188"/>
            <a:ext cx="1300497" cy="328613"/>
          </a:xfrm>
          <a:prstGeom prst="rect">
            <a:avLst/>
          </a:prstGeom>
          <a:solidFill>
            <a:srgbClr val="FFFFFF"/>
          </a:solidFill>
          <a:ln w="18288">
            <a:solidFill>
              <a:srgbClr val="08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1443" y="3786188"/>
            <a:ext cx="1300497" cy="32861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→ INSIGHT → ACTION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2026-08-21T09:15:58Z</dcterms:created>
  <dcterms:modified xsi:type="dcterms:W3CDTF">2026-08-21T09:15:58Z</dcterms:modified>
</cp:coreProperties>
</file>